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sldIdLst>
    <p:sldId id="256" r:id="rId4"/>
    <p:sldId id="571" r:id="rId6"/>
    <p:sldId id="572" r:id="rId7"/>
    <p:sldId id="573" r:id="rId8"/>
    <p:sldId id="574" r:id="rId9"/>
    <p:sldId id="575" r:id="rId10"/>
    <p:sldId id="576" r:id="rId11"/>
    <p:sldId id="577" r:id="rId12"/>
    <p:sldId id="579" r:id="rId13"/>
    <p:sldId id="578" r:id="rId14"/>
    <p:sldId id="536" r:id="rId15"/>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4.xml"/><Relationship Id="rId2" Type="http://schemas.openxmlformats.org/officeDocument/2006/relationships/theme" Target="theme/theme1.xml"/><Relationship Id="rId19" Type="http://schemas.microsoft.com/office/2018/10/relationships/authors" Targe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6.xml"/><Relationship Id="rId3" Type="http://schemas.openxmlformats.org/officeDocument/2006/relationships/tags" Target="../tags/tag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a:t>Student Name:</a:t>
            </a:r>
            <a:endParaRPr lang="en-US" sz="1600" b="1" cap="all"/>
          </a:p>
          <a:p>
            <a:pPr algn="l">
              <a:spcAft>
                <a:spcPts val="600"/>
              </a:spcAft>
            </a:pPr>
            <a:r>
              <a:rPr lang="en-US" sz="1600" b="1" cap="all"/>
              <a:t>College Name:</a:t>
            </a:r>
            <a:endParaRPr lang="en-US" sz="1600" b="1" cap="all"/>
          </a:p>
          <a:p>
            <a:pPr algn="l">
              <a:spcAft>
                <a:spcPts val="600"/>
              </a:spcAft>
            </a:pPr>
            <a:r>
              <a:rPr lang="en-US" sz="1600" b="1" cap="all"/>
              <a:t>Department:</a:t>
            </a:r>
            <a:endParaRPr lang="en-US" sz="1600" b="1" cap="all"/>
          </a:p>
          <a:p>
            <a:pPr algn="l">
              <a:spcAft>
                <a:spcPts val="600"/>
              </a:spcAft>
            </a:pPr>
            <a:r>
              <a:rPr lang="en-US" sz="1600" b="1" cap="all"/>
              <a:t>Email ID:</a:t>
            </a:r>
            <a:endParaRPr lang="en-US" sz="1600" b="1" cap="all"/>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2"/>
          <a:stretch>
            <a:fillRect/>
          </a:stretch>
        </p:blipFill>
        <p:spPr>
          <a:xfrm>
            <a:off x="6409990" y="963029"/>
            <a:ext cx="4590784" cy="4936489"/>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IN" sz="2200">
                <a:latin typeface="Franklin Gothic Book" panose="020B0503020102020204"/>
              </a:rPr>
              <a:t>Currently Rental bikes are introduced in many urban cities for the enhancement of mobility comfort. It is important to make the rental bike available and accessible to the public at the right time as it lessens the waiting time. Eventually, providing the city with a stable supply of rental bikes becomes a major concern. The crucial part is the prediction of bike count required at each hour for the stable supply of rental bikes.</a:t>
            </a:r>
            <a:endParaRPr lang="en-US"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Data Collection:</a:t>
            </a:r>
            <a:endParaRPr lang="en-IN" sz="120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Gather historical data on bike rentals, including time, date, location, and other relevant factors.</a:t>
            </a:r>
            <a:endParaRPr lang="en-IN" sz="120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Utilize real-time data sources, such as weather conditions, events, and holidays, to enhance prediction accuracy.</a:t>
            </a:r>
            <a:endParaRPr lang="en-IN" sz="120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Data Preprocessing:</a:t>
            </a:r>
            <a:endParaRPr lang="en-IN" sz="120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Clean and preprocess the collected data to handle missing values, outliers, and inconsistencies.</a:t>
            </a:r>
            <a:endParaRPr lang="en-IN" sz="120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Feature engineering to extract relevant features from the data that might impact bike demand.</a:t>
            </a:r>
            <a:endParaRPr lang="en-IN" sz="120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Deployment:</a:t>
            </a:r>
            <a:endParaRPr lang="en-IN" sz="120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Develop a user-friendly interface or application that provides real-time predictions for bike counts at different hours.</a:t>
            </a:r>
            <a:endParaRPr lang="en-IN" sz="1200">
              <a:latin typeface="Calibri" panose="020F0502020204030204"/>
              <a:ea typeface="Calibri" panose="020F0502020204030204"/>
              <a:cs typeface="Calibri" panose="020F0502020204030204"/>
            </a:endParaRPr>
          </a:p>
          <a:p>
            <a:pPr marL="629920" lvl="1" indent="-305435">
              <a:spcBef>
                <a:spcPct val="20000"/>
              </a:spcBef>
              <a:spcAft>
                <a:spcPts val="600"/>
              </a:spcAft>
              <a:buFont typeface="Arial" panose="020B0604020202020204"/>
              <a:buChar char="•"/>
            </a:pPr>
            <a:r>
              <a:rPr lang="en-IN" sz="1200" b="1" dirty="0">
                <a:latin typeface="Calibri" panose="020F0502020204030204"/>
                <a:ea typeface="Calibri" panose="020F0502020204030204"/>
                <a:cs typeface="Calibri" panose="020F0502020204030204"/>
              </a:rPr>
              <a:t>Deploy the solution on a scalable and reliable platform, considering factors like server infrastructure, response time, and user accessibility.</a:t>
            </a:r>
            <a:endParaRPr lang="en-IN" sz="1200">
              <a:latin typeface="Calibri" panose="020F0502020204030204"/>
              <a:ea typeface="Calibri" panose="020F0502020204030204"/>
              <a:cs typeface="Calibri" panose="020F0502020204030204"/>
            </a:endParaRP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IN" sz="2200" b="1">
                <a:latin typeface="Franklin Gothic Book" panose="020B0503020102020204"/>
              </a:rPr>
              <a:t>The "System Approach" section outlines the overall strategy and methodology for developing and implementing the rental bike prediction system. Here's a suggested structure for this section:</a:t>
            </a:r>
            <a:endParaRPr lang="en-US" sz="2200">
              <a:latin typeface="Franklin Gothic Book" panose="020B0503020102020204"/>
            </a:endParaRPr>
          </a:p>
          <a:p>
            <a:pPr marL="305435" indent="-305435">
              <a:spcBef>
                <a:spcPct val="20000"/>
              </a:spcBef>
              <a:spcAft>
                <a:spcPts val="600"/>
              </a:spcAft>
              <a:buFont typeface="Arial" panose="020B0604020202020204"/>
              <a:buChar char="•"/>
            </a:pPr>
            <a:r>
              <a:rPr lang="en-IN" sz="2200" b="1">
                <a:latin typeface="Franklin Gothic Book" panose="020B0503020102020204"/>
              </a:rPr>
              <a:t>System requirements</a:t>
            </a:r>
            <a:endParaRPr lang="en-US" sz="2200">
              <a:latin typeface="Franklin Gothic Book" panose="020B0503020102020204"/>
            </a:endParaRPr>
          </a:p>
          <a:p>
            <a:pPr marL="305435" indent="-305435">
              <a:spcBef>
                <a:spcPct val="20000"/>
              </a:spcBef>
              <a:spcAft>
                <a:spcPts val="600"/>
              </a:spcAft>
              <a:buFont typeface="Arial" panose="020B0604020202020204"/>
              <a:buChar char="•"/>
            </a:pPr>
            <a:r>
              <a:rPr lang="en-IN" sz="2200" b="1">
                <a:latin typeface="Franklin Gothic Book" panose="020B0503020102020204"/>
              </a:rPr>
              <a:t>Library required to build the model</a:t>
            </a:r>
            <a:endParaRPr lang="en-GB"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pPr marL="305435" indent="-305435">
              <a:spcBef>
                <a:spcPct val="20000"/>
              </a:spcBef>
              <a:spcAft>
                <a:spcPts val="600"/>
              </a:spcAft>
              <a:buFont typeface="Arial" panose="020B0604020202020204"/>
              <a:buChar char="•"/>
            </a:pPr>
            <a:r>
              <a:rPr lang="en-IN" sz="1500">
                <a:latin typeface="Franklin Gothic Book" panose="020B0503020102020204"/>
              </a:rPr>
              <a:t>In the Algorithm section, describe the machine learning algorithm chosen for predicting bike counts. Here's an example structure for this section:</a:t>
            </a:r>
            <a:endParaRPr lang="en-IN" sz="1500">
              <a:latin typeface="Franklin Gothic Book" panose="020B0503020102020204"/>
            </a:endParaRPr>
          </a:p>
          <a:p>
            <a:pPr marL="305435" indent="-305435">
              <a:spcBef>
                <a:spcPct val="20000"/>
              </a:spcBef>
              <a:spcAft>
                <a:spcPts val="600"/>
              </a:spcAft>
              <a:buFont typeface="Arial" panose="020B0604020202020204"/>
              <a:buChar char="•"/>
            </a:pPr>
            <a:r>
              <a:rPr lang="en-IN" sz="1500" b="1">
                <a:latin typeface="Franklin Gothic Book" panose="020B0503020102020204"/>
              </a:rPr>
              <a:t>Algorithm Selection:</a:t>
            </a:r>
            <a:endParaRPr lang="en-IN" sz="1500">
              <a:latin typeface="Franklin Gothic Book" panose="020B0503020102020204"/>
            </a:endParaRPr>
          </a:p>
          <a:p>
            <a:pPr marL="629920" lvl="1" indent="-305435">
              <a:spcBef>
                <a:spcPct val="20000"/>
              </a:spcBef>
              <a:spcAft>
                <a:spcPts val="600"/>
              </a:spcAft>
              <a:buFont typeface="Arial" panose="020B0604020202020204"/>
              <a:buChar char="•"/>
            </a:pPr>
            <a:r>
              <a:rPr lang="en-IN" sz="1500">
                <a:latin typeface="Franklin Gothic Book" panose="020B0503020102020204"/>
              </a:rPr>
              <a:t>Provide a brief overview of the chosen algorithm (e.g., time-series forecasting model, like ARIMA or LSTM) and justify its selection based on the problem statement and data characteristics.</a:t>
            </a:r>
            <a:endParaRPr lang="en-IN" sz="1500">
              <a:latin typeface="Franklin Gothic Book" panose="020B0503020102020204"/>
            </a:endParaRPr>
          </a:p>
          <a:p>
            <a:pPr marL="305435" indent="-305435">
              <a:spcBef>
                <a:spcPct val="20000"/>
              </a:spcBef>
              <a:spcAft>
                <a:spcPts val="600"/>
              </a:spcAft>
              <a:buFont typeface="Arial" panose="020B0604020202020204"/>
              <a:buChar char="•"/>
            </a:pPr>
            <a:r>
              <a:rPr lang="en-IN" sz="1500" b="1">
                <a:latin typeface="Franklin Gothic Book" panose="020B0503020102020204"/>
              </a:rPr>
              <a:t>Data Input:</a:t>
            </a:r>
            <a:endParaRPr lang="en-IN" sz="1500">
              <a:latin typeface="Franklin Gothic Book" panose="020B0503020102020204"/>
            </a:endParaRPr>
          </a:p>
          <a:p>
            <a:pPr marL="629920" lvl="1" indent="-305435">
              <a:spcBef>
                <a:spcPct val="20000"/>
              </a:spcBef>
              <a:spcAft>
                <a:spcPts val="600"/>
              </a:spcAft>
              <a:buFont typeface="Arial" panose="020B0604020202020204"/>
              <a:buChar char="•"/>
            </a:pPr>
            <a:r>
              <a:rPr lang="en-IN" sz="1500">
                <a:latin typeface="Franklin Gothic Book" panose="020B0503020102020204"/>
              </a:rPr>
              <a:t>Specify the input features used by the algorithm, such as historical bike rental data, weather conditions, day of the week, and any other relevant factors.</a:t>
            </a:r>
            <a:endParaRPr lang="en-IN" sz="1500">
              <a:latin typeface="Franklin Gothic Book" panose="020B0503020102020204"/>
            </a:endParaRPr>
          </a:p>
          <a:p>
            <a:pPr marL="305435" indent="-305435">
              <a:spcBef>
                <a:spcPct val="20000"/>
              </a:spcBef>
              <a:spcAft>
                <a:spcPts val="600"/>
              </a:spcAft>
              <a:buFont typeface="Arial" panose="020B0604020202020204"/>
              <a:buChar char="•"/>
            </a:pPr>
            <a:r>
              <a:rPr lang="en-IN" sz="1500" b="1">
                <a:latin typeface="Franklin Gothic Book" panose="020B0503020102020204"/>
              </a:rPr>
              <a:t>Training Process:</a:t>
            </a:r>
            <a:endParaRPr lang="en-IN" sz="1500">
              <a:latin typeface="Franklin Gothic Book" panose="020B0503020102020204"/>
            </a:endParaRPr>
          </a:p>
          <a:p>
            <a:pPr marL="629920" lvl="1" indent="-305435">
              <a:spcBef>
                <a:spcPct val="20000"/>
              </a:spcBef>
              <a:spcAft>
                <a:spcPts val="600"/>
              </a:spcAft>
              <a:buFont typeface="Arial" panose="020B0604020202020204"/>
              <a:buChar char="•"/>
            </a:pPr>
            <a:r>
              <a:rPr lang="en-IN" sz="1500">
                <a:latin typeface="Franklin Gothic Book" panose="020B0503020102020204"/>
              </a:rPr>
              <a:t>Explain how the algorithm is trained using historical data. Highlight any specific considerations or techniques employed, such as cross-validation or hyperparameter tuning.</a:t>
            </a:r>
            <a:endParaRPr lang="en-IN" sz="1500">
              <a:latin typeface="Franklin Gothic Book" panose="020B0503020102020204"/>
            </a:endParaRPr>
          </a:p>
          <a:p>
            <a:pPr marL="305435" indent="-305435">
              <a:spcBef>
                <a:spcPct val="20000"/>
              </a:spcBef>
              <a:spcAft>
                <a:spcPts val="600"/>
              </a:spcAft>
              <a:buFont typeface="Arial" panose="020B0604020202020204"/>
              <a:buChar char="•"/>
            </a:pPr>
            <a:r>
              <a:rPr lang="en-IN" sz="1500" b="1">
                <a:latin typeface="Franklin Gothic Book" panose="020B0503020102020204"/>
              </a:rPr>
              <a:t>Prediction Process:</a:t>
            </a:r>
            <a:endParaRPr lang="en-IN" sz="1500">
              <a:latin typeface="Franklin Gothic Book" panose="020B0503020102020204"/>
            </a:endParaRPr>
          </a:p>
          <a:p>
            <a:pPr marL="629920" lvl="1" indent="-305435">
              <a:spcBef>
                <a:spcPct val="20000"/>
              </a:spcBef>
              <a:spcAft>
                <a:spcPts val="600"/>
              </a:spcAft>
              <a:buFont typeface="Arial" panose="020B0604020202020204"/>
              <a:buChar char="•"/>
            </a:pPr>
            <a:r>
              <a:rPr lang="en-IN" sz="1500">
                <a:latin typeface="Franklin Gothic Book" panose="020B0503020102020204"/>
              </a:rPr>
              <a:t>Detail how the trained algorithm makes predictions for future bike counts. Discuss any real-time data inputs considered during the prediction phase.</a:t>
            </a:r>
            <a:endParaRPr lang="en-GB"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pPr marL="0" indent="0">
              <a:buNone/>
            </a:pPr>
            <a:r>
              <a:rPr lang="en-IN" sz="2200">
                <a:latin typeface="Franklin Gothic Book" panose="020B0503020102020204"/>
              </a:rPr>
              <a:t>Present the results of the machine learning model in terms of its accuracy and effectiveness in predicting bike counts. Include visualizations and comparisons between predicted and actual counts to highlight the model's performance.</a:t>
            </a:r>
            <a:endParaRPr lang="en-US"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200">
                <a:latin typeface="Franklin Gothic Book" panose="020B0503020102020204"/>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US" sz="2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a:latin typeface="Franklin Gothic Book" panose="020B0503020102020204"/>
            </a:endParaRPr>
          </a:p>
          <a:p>
            <a:pPr marL="0" indent="0">
              <a:spcBef>
                <a:spcPct val="20000"/>
              </a:spcBef>
              <a:spcAft>
                <a:spcPts val="600"/>
              </a:spcAft>
              <a:buNone/>
            </a:pPr>
            <a:r>
              <a:rPr lang="en-US" sz="2200">
                <a:latin typeface="Franklin Gothic Book" panose="020B0503020102020204"/>
              </a:rPr>
              <a:t>Discuss potential enhancements and expansions for the system. This could include incorporating additional data sources, optimizing the algorithm for better performance, and expanding the system to cover multiple cities or regions. Consider the integration of emerging technologies such as edge computing or advanced machine learning techniques.</a:t>
            </a:r>
            <a:endParaRPr lang="en-GB" sz="2200"/>
          </a:p>
          <a:p>
            <a:pPr marL="0" indent="0">
              <a:buNone/>
            </a:pPr>
            <a:endParaRPr lang="en-GB"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a:latin typeface="Franklin Gothic Book" panose="020B0503020102020204"/>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a:latin typeface="Aptos"/>
            </a:endParaRPr>
          </a:p>
          <a:p>
            <a:pPr marL="0" indent="0">
              <a:buNone/>
            </a:pPr>
            <a:r>
              <a:rPr lang="en-IN" sz="2200">
                <a:latin typeface="Franklin Gothic Book" panose="020B0503020102020204"/>
              </a:rPr>
              <a:t>GitHub Link:</a:t>
            </a:r>
            <a:r>
              <a:rPr lang="en-IN" sz="2200">
                <a:solidFill>
                  <a:srgbClr val="0070C0"/>
                </a:solidFill>
                <a:latin typeface="Franklin Gothic Book" panose="020B0503020102020204"/>
              </a:rPr>
              <a:t> </a:t>
            </a:r>
            <a:r>
              <a:rPr lang="en-IN" sz="2200" u="sng">
                <a:solidFill>
                  <a:srgbClr val="0070C0"/>
                </a:solidFill>
                <a:latin typeface="Franklin Gothic Book" panose="020B0503020102020204"/>
              </a:rPr>
              <a:t>Link</a:t>
            </a:r>
            <a:endParaRPr lang="en-IN" sz="2200" u="sng">
              <a:solidFill>
                <a:srgbClr val="0070C0"/>
              </a:solidFill>
              <a:latin typeface="Franklin Gothic Book" panose="020B0503020102020204"/>
            </a:endParaRPr>
          </a:p>
          <a:p>
            <a:pPr marL="0" indent="0">
              <a:buNone/>
            </a:pPr>
            <a:endParaRPr lang="en-IN" sz="2200" u="sng">
              <a:solidFill>
                <a:srgbClr val="0070C0"/>
              </a:solidFill>
              <a:latin typeface="Franklin Gothic Book" panose="020B0503020102020204"/>
            </a:endParaRPr>
          </a:p>
          <a:p>
            <a:pPr marL="0" indent="0">
              <a:buNone/>
            </a:pPr>
            <a:endParaRPr lang="en-IN" sz="220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endParaRPr lang="en-US" sz="4800" b="1">
              <a:solidFill>
                <a:srgbClr val="002060"/>
              </a:solidFill>
              <a:latin typeface="Arial" panose="020B0604020202020204"/>
              <a:cs typeface="Arial" panose="020B0604020202020204"/>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DESIGN_ID_1_OFFICE THEME" val="TmdBxN3j"/>
  <p:tag name="ARTICULATE_PROJECT_OPEN" val="0"/>
  <p:tag name="ARTICULATE_SLIDE_COUNT" val="9"/>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4147</Words>
  <Application>WPS Presentation</Application>
  <PresentationFormat>Widescreen</PresentationFormat>
  <Paragraphs>80</Paragraphs>
  <Slides>11</Slides>
  <Notes>2</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11</vt:i4>
      </vt:variant>
    </vt:vector>
  </HeadingPairs>
  <TitlesOfParts>
    <vt:vector size="25" baseType="lpstr">
      <vt:lpstr>Arial</vt:lpstr>
      <vt:lpstr>SimSun</vt:lpstr>
      <vt:lpstr>Wingdings</vt:lpstr>
      <vt:lpstr>Aptos</vt:lpstr>
      <vt:lpstr>Segoe UI</vt:lpstr>
      <vt:lpstr>Arial</vt:lpstr>
      <vt:lpstr>Franklin Gothic Book</vt:lpstr>
      <vt:lpstr>Calibri</vt:lpstr>
      <vt:lpstr>Aptos Display</vt:lpstr>
      <vt:lpstr>Microsoft YaHei</vt:lpstr>
      <vt:lpstr>Arial Unicode MS</vt:lpstr>
      <vt:lpstr>Aptos</vt:lpstr>
      <vt:lpstr>1_Office Theme</vt:lpstr>
      <vt:lpstr>Custom Design</vt:lpstr>
      <vt:lpstr>PowerPoint 演示文稿</vt:lpstr>
      <vt:lpstr>OUTLINE:</vt:lpstr>
      <vt:lpstr>Problem Statement:</vt:lpstr>
      <vt:lpstr>Proposed Solution:</vt:lpstr>
      <vt:lpstr>System  Approach:</vt:lpstr>
      <vt:lpstr>Algorithm &amp; Deployment:</vt:lpstr>
      <vt:lpstr>Result:</vt:lpstr>
      <vt:lpstr>Conclusion:</vt:lpstr>
      <vt:lpstr>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vignsh_vky</cp:lastModifiedBy>
  <cp:revision>101</cp:revision>
  <dcterms:created xsi:type="dcterms:W3CDTF">2024-05-21T11:55:00Z</dcterms:created>
  <dcterms:modified xsi:type="dcterms:W3CDTF">2026-03-03T13:23:45Z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